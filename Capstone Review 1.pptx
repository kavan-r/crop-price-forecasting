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69" r:id="rId3"/>
    <p:sldId id="257" r:id="rId4"/>
    <p:sldId id="274" r:id="rId5"/>
    <p:sldId id="275" r:id="rId6"/>
    <p:sldId id="276" r:id="rId7"/>
    <p:sldId id="277" r:id="rId8"/>
    <p:sldId id="273" r:id="rId9"/>
    <p:sldId id="278" r:id="rId10"/>
    <p:sldId id="268" r:id="rId11"/>
    <p:sldId id="272" r:id="rId12"/>
    <p:sldId id="271" r:id="rId13"/>
    <p:sldId id="270" r:id="rId14"/>
    <p:sldId id="265"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kavan-r/OrganicCrop-Forecast"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gmarknet.gov.in/"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www.fao.org/faostat/"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dirty="0" err="1">
                <a:solidFill>
                  <a:schemeClr val="tx1"/>
                </a:solidFill>
                <a:latin typeface="Cambria" panose="02040503050406030204" pitchFamily="18" charset="0"/>
                <a:ea typeface="Cambria" panose="02040503050406030204" pitchFamily="18" charset="0"/>
              </a:rPr>
              <a:t>OrganicCrop</a:t>
            </a:r>
            <a:r>
              <a:rPr lang="en-US" dirty="0">
                <a:solidFill>
                  <a:schemeClr val="tx1"/>
                </a:solidFill>
                <a:latin typeface="Cambria" panose="02040503050406030204" pitchFamily="18" charset="0"/>
                <a:ea typeface="Cambria" panose="02040503050406030204" pitchFamily="18" charset="0"/>
              </a:rPr>
              <a:t> Forecast: Region-Wise Demand and Price Estimator</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ISE_1</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b="1"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FF0000"/>
                </a:solidFill>
                <a:latin typeface="Cambria" panose="02040503050406030204" pitchFamily="18" charset="0"/>
                <a:ea typeface="Cambria" panose="02040503050406030204" pitchFamily="18" charset="0"/>
                <a:cs typeface="Verdana"/>
                <a:sym typeface="Verdana"/>
              </a:rPr>
              <a:t>Dr. Murali Parameswaran</a:t>
            </a:r>
            <a:endParaRPr dirty="0">
              <a:solidFill>
                <a:srgbClr val="FF0000"/>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18884406"/>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u="none" strike="noStrike" cap="none" dirty="0"/>
                        <a:t>20221ISE0108</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Kavana 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u="none" strike="noStrike" cap="none" dirty="0"/>
                        <a:t>20221ISE0109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Pallavi J</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u="none" strike="noStrike" cap="none" dirty="0"/>
                        <a:t>20221ISE0104</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Bharathi Neeralakeri</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400" b="1" dirty="0">
                <a:solidFill>
                  <a:srgbClr val="17365D"/>
                </a:solidFill>
                <a:latin typeface="Cambria" panose="02040503050406030204" pitchFamily="18" charset="0"/>
                <a:ea typeface="Cambria" panose="02040503050406030204" pitchFamily="18" charset="0"/>
                <a:cs typeface="Verdana"/>
                <a:sym typeface="Verdana"/>
              </a:rPr>
              <a:t>CSE7101-</a:t>
            </a:r>
            <a:r>
              <a:rPr lang="en-GB" sz="24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2400" b="1"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4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24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44786"/>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Information Science and Engineering</a:t>
            </a: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Zafar Ali Khan</a:t>
            </a:r>
          </a:p>
          <a:p>
            <a:pPr>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rgbClr val="FF0000"/>
                </a:solidFill>
                <a:latin typeface="Cambria" panose="02040503050406030204" pitchFamily="18" charset="0"/>
                <a:ea typeface="Cambria" panose="02040503050406030204" pitchFamily="18" charset="0"/>
                <a:cs typeface="Verdana"/>
                <a:sym typeface="Verdana"/>
              </a:rPr>
              <a:t>Ms. Suma N G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sz="3200" dirty="0">
                <a:latin typeface="Cambria" panose="02040503050406030204" pitchFamily="18" charset="0"/>
                <a:ea typeface="Cambria" panose="02040503050406030204" pitchFamily="18" charset="0"/>
              </a:rPr>
              <a:t>Problem Statement Number: </a:t>
            </a:r>
            <a:r>
              <a:rPr lang="en-IN" sz="3200" dirty="0">
                <a:latin typeface="Cambria" panose="02040503050406030204" pitchFamily="18" charset="0"/>
                <a:ea typeface="Cambria" panose="02040503050406030204" pitchFamily="18" charset="0"/>
              </a:rPr>
              <a:t>PSCS_150</a:t>
            </a:r>
            <a:r>
              <a:rPr lang="en-GB" sz="3200" dirty="0">
                <a:latin typeface="Cambria" panose="02040503050406030204" pitchFamily="18" charset="0"/>
                <a:ea typeface="Cambria" panose="02040503050406030204" pitchFamily="18" charset="0"/>
              </a:rPr>
              <a:t> </a:t>
            </a:r>
            <a:endParaRPr sz="32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sz="2800" b="1" dirty="0">
                <a:latin typeface="Cambria" panose="02040503050406030204" pitchFamily="18" charset="0"/>
                <a:ea typeface="Cambria" panose="02040503050406030204" pitchFamily="18" charset="0"/>
              </a:rPr>
              <a:t>Organization: </a:t>
            </a:r>
            <a:r>
              <a:rPr lang="en-US" sz="2800" dirty="0" err="1">
                <a:latin typeface="Cambria" panose="02040503050406030204" pitchFamily="18" charset="0"/>
                <a:ea typeface="Cambria" panose="02040503050406030204" pitchFamily="18" charset="0"/>
              </a:rPr>
              <a:t>Agriculture,FoodTech</a:t>
            </a:r>
            <a:r>
              <a:rPr lang="en-US" sz="2800" dirty="0">
                <a:latin typeface="Cambria" panose="02040503050406030204" pitchFamily="18" charset="0"/>
                <a:ea typeface="Cambria" panose="02040503050406030204" pitchFamily="18" charset="0"/>
              </a:rPr>
              <a:t> &amp; Rural Development.</a:t>
            </a:r>
          </a:p>
          <a:p>
            <a:pPr marL="342900" lvl="0" indent="-190500" algn="just">
              <a:spcBef>
                <a:spcPts val="0"/>
              </a:spcBef>
              <a:buNone/>
            </a:pPr>
            <a:endParaRPr lang="en-US" sz="2800" b="1" dirty="0">
              <a:latin typeface="Cambria" panose="02040503050406030204" pitchFamily="18" charset="0"/>
              <a:ea typeface="Cambria" panose="02040503050406030204" pitchFamily="18" charset="0"/>
            </a:endParaRPr>
          </a:p>
          <a:p>
            <a:pPr marL="342900" lvl="0" indent="-190500" algn="just">
              <a:spcBef>
                <a:spcPts val="0"/>
              </a:spcBef>
              <a:buNone/>
            </a:pPr>
            <a:r>
              <a:rPr lang="en-US" sz="2800" b="1" dirty="0">
                <a:latin typeface="Cambria" panose="02040503050406030204" pitchFamily="18" charset="0"/>
                <a:ea typeface="Cambria" panose="02040503050406030204" pitchFamily="18" charset="0"/>
              </a:rPr>
              <a:t>Category : </a:t>
            </a:r>
            <a:r>
              <a:rPr lang="en-US" sz="2800" dirty="0">
                <a:latin typeface="Cambria" panose="02040503050406030204" pitchFamily="18" charset="0"/>
                <a:ea typeface="Cambria" panose="02040503050406030204" pitchFamily="18" charset="0"/>
              </a:rPr>
              <a:t>Software</a:t>
            </a:r>
          </a:p>
          <a:p>
            <a:pPr marL="342900" lvl="0" indent="-190500" algn="just">
              <a:spcBef>
                <a:spcPts val="0"/>
              </a:spcBef>
              <a:buNone/>
            </a:pPr>
            <a:endParaRPr lang="en-US" sz="2800" b="1" dirty="0">
              <a:latin typeface="Cambria" panose="02040503050406030204" pitchFamily="18" charset="0"/>
              <a:ea typeface="Cambria" panose="02040503050406030204" pitchFamily="18" charset="0"/>
            </a:endParaRPr>
          </a:p>
          <a:p>
            <a:pPr marL="342900" lvl="0" indent="-190500" algn="just">
              <a:spcBef>
                <a:spcPts val="0"/>
              </a:spcBef>
              <a:buNone/>
            </a:pPr>
            <a:r>
              <a:rPr lang="en-US" sz="2800" b="1" dirty="0">
                <a:latin typeface="Cambria" panose="02040503050406030204" pitchFamily="18" charset="0"/>
                <a:ea typeface="Cambria" panose="02040503050406030204" pitchFamily="18" charset="0"/>
              </a:rPr>
              <a:t>Problem Description: </a:t>
            </a:r>
            <a:r>
              <a:rPr lang="en-US" sz="2800" dirty="0">
                <a:latin typeface="Cambria" panose="02040503050406030204" pitchFamily="18" charset="0"/>
                <a:ea typeface="Cambria" panose="02040503050406030204" pitchFamily="18" charset="0"/>
              </a:rPr>
              <a:t>Developing solutions, keeping in mind the need to enhance the primary sector of India – Agriculture and to manage and process our agriculture procedure.</a:t>
            </a:r>
            <a:endParaRPr lang="en-US" sz="28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sz="3200" dirty="0">
                <a:latin typeface="Cambria" panose="02040503050406030204" pitchFamily="18" charset="0"/>
                <a:ea typeface="Cambria" panose="02040503050406030204" pitchFamily="18" charset="0"/>
              </a:rPr>
              <a:t>Content</a:t>
            </a:r>
            <a:endParaRPr sz="3200"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46925" y="845787"/>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495300" indent="-342900" algn="just">
              <a:lnSpc>
                <a:spcPct val="200000"/>
              </a:lnSpc>
              <a:spcBef>
                <a:spcPts val="0"/>
              </a:spcBef>
              <a:buFont typeface="Arial" panose="020B0604020202020204" pitchFamily="34" charset="0"/>
              <a:buChar char="•"/>
            </a:pPr>
            <a:r>
              <a:rPr lang="en-US" sz="9600"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sz="96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9600"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sz="9600"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sz="9600" dirty="0">
                <a:latin typeface="Cambria" panose="02040503050406030204" pitchFamily="18" charset="0"/>
                <a:ea typeface="Cambria" panose="02040503050406030204" pitchFamily="18" charset="0"/>
              </a:rPr>
              <a:t>Innovation or Novel Contributions</a:t>
            </a:r>
          </a:p>
          <a:p>
            <a:pPr marL="495300" indent="-342900" algn="just">
              <a:lnSpc>
                <a:spcPct val="200000"/>
              </a:lnSpc>
              <a:spcBef>
                <a:spcPts val="0"/>
              </a:spcBef>
              <a:buFont typeface="Arial" panose="020B0604020202020204" pitchFamily="34" charset="0"/>
              <a:buChar char="•"/>
            </a:pPr>
            <a:r>
              <a:rPr lang="en-US" sz="9600" dirty="0" err="1">
                <a:latin typeface="Cambria" panose="02040503050406030204" pitchFamily="18" charset="0"/>
                <a:ea typeface="Cambria" panose="02040503050406030204" pitchFamily="18" charset="0"/>
              </a:rPr>
              <a:t>Git</a:t>
            </a:r>
            <a:r>
              <a:rPr lang="en-US" sz="9600"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9600"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96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96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96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C05EB4-2F4A-BA4A-2D1A-6CE308FB4F3E}"/>
              </a:ext>
            </a:extLst>
          </p:cNvPr>
          <p:cNvSpPr txBox="1"/>
          <p:nvPr/>
        </p:nvSpPr>
        <p:spPr>
          <a:xfrm>
            <a:off x="805543" y="206829"/>
            <a:ext cx="4027714" cy="584775"/>
          </a:xfrm>
          <a:prstGeom prst="rect">
            <a:avLst/>
          </a:prstGeom>
          <a:noFill/>
        </p:spPr>
        <p:txBody>
          <a:bodyPr wrap="square" rtlCol="0">
            <a:spAutoFit/>
          </a:bodyPr>
          <a:lstStyle/>
          <a:p>
            <a:r>
              <a:rPr lang="en-GB" sz="3200" b="1" dirty="0">
                <a:solidFill>
                  <a:schemeClr val="bg2">
                    <a:lumMod val="75000"/>
                  </a:schemeClr>
                </a:solidFill>
                <a:latin typeface="Cambria" panose="02040503050406030204" pitchFamily="18" charset="0"/>
                <a:ea typeface="Cambria" panose="02040503050406030204" pitchFamily="18" charset="0"/>
              </a:rPr>
              <a:t>Problem Statement</a:t>
            </a:r>
            <a:endParaRPr lang="en-IN" sz="3200" b="1" dirty="0">
              <a:solidFill>
                <a:schemeClr val="bg2">
                  <a:lumMod val="75000"/>
                </a:schemeClr>
              </a:solidFill>
            </a:endParaRPr>
          </a:p>
        </p:txBody>
      </p:sp>
      <p:sp>
        <p:nvSpPr>
          <p:cNvPr id="4" name="TextBox 3">
            <a:extLst>
              <a:ext uri="{FF2B5EF4-FFF2-40B4-BE49-F238E27FC236}">
                <a16:creationId xmlns:a16="http://schemas.microsoft.com/office/drawing/2014/main" id="{63364D5C-FF7E-C8C8-327F-7C2C5FE69E67}"/>
              </a:ext>
            </a:extLst>
          </p:cNvPr>
          <p:cNvSpPr txBox="1"/>
          <p:nvPr/>
        </p:nvSpPr>
        <p:spPr>
          <a:xfrm>
            <a:off x="805544" y="1328057"/>
            <a:ext cx="9176656" cy="3108543"/>
          </a:xfrm>
          <a:prstGeom prst="rect">
            <a:avLst/>
          </a:prstGeom>
          <a:noFill/>
        </p:spPr>
        <p:txBody>
          <a:bodyPr wrap="square" rtlCol="0">
            <a:spAutoFit/>
          </a:bodyPr>
          <a:lstStyle/>
          <a:p>
            <a:r>
              <a:rPr lang="en-US" sz="2800" dirty="0">
                <a:latin typeface="Cambria" panose="02040503050406030204" pitchFamily="18" charset="0"/>
                <a:ea typeface="Cambria" panose="02040503050406030204" pitchFamily="18" charset="0"/>
              </a:rPr>
              <a:t>Farmers and </a:t>
            </a:r>
            <a:r>
              <a:rPr lang="en-US" sz="2800" dirty="0" err="1">
                <a:latin typeface="Cambria" panose="02040503050406030204" pitchFamily="18" charset="0"/>
                <a:ea typeface="Cambria" panose="02040503050406030204" pitchFamily="18" charset="0"/>
              </a:rPr>
              <a:t>agri</a:t>
            </a:r>
            <a:r>
              <a:rPr lang="en-US" sz="2800" dirty="0">
                <a:latin typeface="Cambria" panose="02040503050406030204" pitchFamily="18" charset="0"/>
                <a:ea typeface="Cambria" panose="02040503050406030204" pitchFamily="18" charset="0"/>
              </a:rPr>
              <a:t>-traders face challenges in predicting future demand and prices of organic crops. Existing systems mostly provide historical data or advisory services, but lack reliable market estimation and forecasting tools. This results in poor crop planning, financial losses, and uncertainty in the organic agriculture sector.</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95798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781BFA-EEC6-8CE7-3582-23310D3423D1}"/>
              </a:ext>
            </a:extLst>
          </p:cNvPr>
          <p:cNvSpPr txBox="1"/>
          <p:nvPr/>
        </p:nvSpPr>
        <p:spPr>
          <a:xfrm>
            <a:off x="892628" y="239486"/>
            <a:ext cx="4343400" cy="1077218"/>
          </a:xfrm>
          <a:prstGeom prst="rect">
            <a:avLst/>
          </a:prstGeom>
          <a:noFill/>
        </p:spPr>
        <p:txBody>
          <a:bodyPr wrap="square" rtlCol="0">
            <a:spAutoFit/>
          </a:bodyPr>
          <a:lstStyle/>
          <a:p>
            <a:r>
              <a:rPr lang="en-US" sz="3200" b="1" dirty="0">
                <a:solidFill>
                  <a:schemeClr val="bg2">
                    <a:lumMod val="75000"/>
                  </a:schemeClr>
                </a:solidFill>
                <a:latin typeface="Cambria" panose="02040503050406030204" pitchFamily="18" charset="0"/>
                <a:ea typeface="Cambria" panose="02040503050406030204" pitchFamily="18" charset="0"/>
              </a:rPr>
              <a:t>Objectives</a:t>
            </a:r>
          </a:p>
          <a:p>
            <a:endParaRPr lang="en-IN" sz="3200" b="1" dirty="0">
              <a:solidFill>
                <a:schemeClr val="accent1">
                  <a:lumMod val="75000"/>
                </a:schemeClr>
              </a:solidFill>
            </a:endParaRPr>
          </a:p>
        </p:txBody>
      </p:sp>
      <p:sp>
        <p:nvSpPr>
          <p:cNvPr id="3" name="TextBox 2">
            <a:extLst>
              <a:ext uri="{FF2B5EF4-FFF2-40B4-BE49-F238E27FC236}">
                <a16:creationId xmlns:a16="http://schemas.microsoft.com/office/drawing/2014/main" id="{9FC760D1-1230-05EF-DED5-79420BEF3817}"/>
              </a:ext>
            </a:extLst>
          </p:cNvPr>
          <p:cNvSpPr txBox="1"/>
          <p:nvPr/>
        </p:nvSpPr>
        <p:spPr>
          <a:xfrm>
            <a:off x="740228" y="1228397"/>
            <a:ext cx="10384972" cy="4401205"/>
          </a:xfrm>
          <a:prstGeom prst="rect">
            <a:avLst/>
          </a:prstGeom>
          <a:noFill/>
        </p:spPr>
        <p:txBody>
          <a:bodyPr wrap="square" rtlCol="0">
            <a:spAutoFit/>
          </a:bodyPr>
          <a:lstStyle/>
          <a:p>
            <a:pPr marL="285750" indent="-285750">
              <a:buFont typeface="Wingdings" panose="05000000000000000000" pitchFamily="2" charset="2"/>
              <a:buChar char="Ø"/>
            </a:pPr>
            <a:r>
              <a:rPr lang="en-IN"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Collect and preprocess region-wise datasets (price, arrivals, weather, seasonal cycles) for selected organic crops.</a:t>
            </a:r>
          </a:p>
          <a:p>
            <a:pPr marL="285750" indent="-285750">
              <a:buFont typeface="Wingdings" panose="05000000000000000000" pitchFamily="2" charset="2"/>
              <a:buChar char="Ø"/>
            </a:pPr>
            <a:r>
              <a:rPr lang="en-US" sz="2800" dirty="0">
                <a:latin typeface="Cambria" panose="02040503050406030204" pitchFamily="18" charset="0"/>
                <a:ea typeface="Cambria" panose="02040503050406030204" pitchFamily="18" charset="0"/>
              </a:rPr>
              <a:t> Develop AI/ML forecasting models (ARIMA, Prophet, LSTM) to estimate demand and prices.</a:t>
            </a:r>
          </a:p>
          <a:p>
            <a:pPr marL="285750" indent="-285750">
              <a:buFont typeface="Wingdings" panose="05000000000000000000" pitchFamily="2" charset="2"/>
              <a:buChar char="Ø"/>
            </a:pPr>
            <a:r>
              <a:rPr lang="en-US" sz="2800" dirty="0">
                <a:latin typeface="Cambria" panose="02040503050406030204" pitchFamily="18" charset="0"/>
                <a:ea typeface="Cambria" panose="02040503050406030204" pitchFamily="18" charset="0"/>
              </a:rPr>
              <a:t> Create an interactive dashboard (HTML/JS + Flask backend) to visualize trends.</a:t>
            </a:r>
          </a:p>
          <a:p>
            <a:pPr marL="285750" indent="-285750">
              <a:buFont typeface="Wingdings" panose="05000000000000000000" pitchFamily="2" charset="2"/>
              <a:buChar char="Ø"/>
            </a:pPr>
            <a:r>
              <a:rPr lang="en-US" sz="2800" dirty="0">
                <a:latin typeface="Cambria" panose="02040503050406030204" pitchFamily="18" charset="0"/>
                <a:ea typeface="Cambria" panose="02040503050406030204" pitchFamily="18" charset="0"/>
              </a:rPr>
              <a:t> Provide actionable insights (demand growth, price volatility, profit indicators).</a:t>
            </a:r>
          </a:p>
          <a:p>
            <a:pPr marL="285750" indent="-285750">
              <a:buFont typeface="Wingdings" panose="05000000000000000000" pitchFamily="2" charset="2"/>
              <a:buChar char="Ø"/>
            </a:pPr>
            <a:r>
              <a:rPr lang="en-US" sz="2800" dirty="0">
                <a:latin typeface="Cambria" panose="02040503050406030204" pitchFamily="18" charset="0"/>
                <a:ea typeface="Cambria" panose="02040503050406030204" pitchFamily="18" charset="0"/>
              </a:rPr>
              <a:t> Support farmers, policymakers, and stakeholders in decision-making.</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36998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2E3375-A185-5847-E2FA-F542D77F162A}"/>
              </a:ext>
            </a:extLst>
          </p:cNvPr>
          <p:cNvSpPr txBox="1"/>
          <p:nvPr/>
        </p:nvSpPr>
        <p:spPr>
          <a:xfrm>
            <a:off x="718457" y="185057"/>
            <a:ext cx="9285514" cy="1077218"/>
          </a:xfrm>
          <a:prstGeom prst="rect">
            <a:avLst/>
          </a:prstGeom>
          <a:noFill/>
        </p:spPr>
        <p:txBody>
          <a:bodyPr wrap="square" rtlCol="0">
            <a:spAutoFit/>
          </a:bodyPr>
          <a:lstStyle/>
          <a:p>
            <a:r>
              <a:rPr lang="en-US" sz="3200" b="1" dirty="0">
                <a:solidFill>
                  <a:schemeClr val="bg2">
                    <a:lumMod val="75000"/>
                  </a:schemeClr>
                </a:solidFill>
                <a:latin typeface="Cambria" panose="02040503050406030204" pitchFamily="18" charset="0"/>
                <a:ea typeface="Cambria" panose="02040503050406030204" pitchFamily="18" charset="0"/>
              </a:rPr>
              <a:t>Background and Related work for title Selection</a:t>
            </a:r>
          </a:p>
          <a:p>
            <a:endParaRPr lang="en-IN" sz="3200" b="1" dirty="0">
              <a:solidFill>
                <a:schemeClr val="accent1">
                  <a:lumMod val="75000"/>
                </a:schemeClr>
              </a:solidFill>
            </a:endParaRPr>
          </a:p>
        </p:txBody>
      </p:sp>
      <p:sp>
        <p:nvSpPr>
          <p:cNvPr id="3" name="TextBox 2">
            <a:extLst>
              <a:ext uri="{FF2B5EF4-FFF2-40B4-BE49-F238E27FC236}">
                <a16:creationId xmlns:a16="http://schemas.microsoft.com/office/drawing/2014/main" id="{54F32B5F-7CF6-BBF6-19B3-65796A71A046}"/>
              </a:ext>
            </a:extLst>
          </p:cNvPr>
          <p:cNvSpPr txBox="1"/>
          <p:nvPr/>
        </p:nvSpPr>
        <p:spPr>
          <a:xfrm>
            <a:off x="718457" y="1228397"/>
            <a:ext cx="9753600" cy="4401205"/>
          </a:xfrm>
          <a:prstGeom prst="rect">
            <a:avLst/>
          </a:prstGeom>
          <a:noFill/>
        </p:spPr>
        <p:txBody>
          <a:bodyPr wrap="square" rtlCol="0">
            <a:spAutoFit/>
          </a:bodyPr>
          <a:lstStyle/>
          <a:p>
            <a:pPr marL="457200" indent="-457200">
              <a:buFont typeface="Wingdings" panose="05000000000000000000" pitchFamily="2" charset="2"/>
              <a:buChar char="Ø"/>
            </a:pPr>
            <a:r>
              <a:rPr lang="en-IN" sz="2800" dirty="0">
                <a:latin typeface="Cambria" panose="02040503050406030204" pitchFamily="18" charset="0"/>
                <a:ea typeface="Cambria" panose="02040503050406030204" pitchFamily="18" charset="0"/>
              </a:rPr>
              <a:t> </a:t>
            </a:r>
            <a:r>
              <a:rPr lang="en-US" sz="2800" dirty="0">
                <a:latin typeface="Cambria" panose="02040503050406030204" pitchFamily="18" charset="0"/>
                <a:ea typeface="Cambria" panose="02040503050406030204" pitchFamily="18" charset="0"/>
              </a:rPr>
              <a:t>Prior research has explored time-series forecasting for agricultural commodities using ARIMA, SARIMA, Prophet, and deep learning models (LSTM/GRU).</a:t>
            </a:r>
          </a:p>
          <a:p>
            <a:pPr marL="457200" indent="-457200">
              <a:buFont typeface="Wingdings" panose="05000000000000000000" pitchFamily="2" charset="2"/>
              <a:buChar char="Ø"/>
            </a:pPr>
            <a:r>
              <a:rPr lang="en-US" sz="2800" dirty="0">
                <a:latin typeface="Cambria" panose="02040503050406030204" pitchFamily="18" charset="0"/>
                <a:ea typeface="Cambria" panose="02040503050406030204" pitchFamily="18" charset="0"/>
              </a:rPr>
              <a:t> Datasets from </a:t>
            </a:r>
            <a:r>
              <a:rPr lang="en-US" sz="2800" dirty="0" err="1">
                <a:latin typeface="Cambria" panose="02040503050406030204" pitchFamily="18" charset="0"/>
                <a:ea typeface="Cambria" panose="02040503050406030204" pitchFamily="18" charset="0"/>
              </a:rPr>
              <a:t>Agmarknet</a:t>
            </a:r>
            <a:r>
              <a:rPr lang="en-US" sz="2800" dirty="0">
                <a:latin typeface="Cambria" panose="02040503050406030204" pitchFamily="18" charset="0"/>
                <a:ea typeface="Cambria" panose="02040503050406030204" pitchFamily="18" charset="0"/>
              </a:rPr>
              <a:t>, FAOSTAT, and State Agriculture Boards have been widely used in </a:t>
            </a:r>
            <a:r>
              <a:rPr lang="en-US" sz="2800" dirty="0" err="1">
                <a:latin typeface="Cambria" panose="02040503050406030204" pitchFamily="18" charset="0"/>
                <a:ea typeface="Cambria" panose="02040503050406030204" pitchFamily="18" charset="0"/>
              </a:rPr>
              <a:t>agri</a:t>
            </a:r>
            <a:r>
              <a:rPr lang="en-US" sz="2800" dirty="0">
                <a:latin typeface="Cambria" panose="02040503050406030204" pitchFamily="18" charset="0"/>
                <a:ea typeface="Cambria" panose="02040503050406030204" pitchFamily="18" charset="0"/>
              </a:rPr>
              <a:t>-economic studies.</a:t>
            </a:r>
          </a:p>
          <a:p>
            <a:pPr marL="457200" indent="-457200">
              <a:buFont typeface="Wingdings" panose="05000000000000000000" pitchFamily="2" charset="2"/>
              <a:buChar char="Ø"/>
            </a:pPr>
            <a:r>
              <a:rPr lang="en-US" sz="2800" dirty="0">
                <a:latin typeface="Cambria" panose="02040503050406030204" pitchFamily="18" charset="0"/>
                <a:ea typeface="Cambria" panose="02040503050406030204" pitchFamily="18" charset="0"/>
              </a:rPr>
              <a:t> Existing platforms (e.g., </a:t>
            </a:r>
            <a:r>
              <a:rPr lang="en-US" sz="2800" dirty="0" err="1">
                <a:latin typeface="Cambria" panose="02040503050406030204" pitchFamily="18" charset="0"/>
                <a:ea typeface="Cambria" panose="02040503050406030204" pitchFamily="18" charset="0"/>
              </a:rPr>
              <a:t>Agmarknet</a:t>
            </a:r>
            <a:r>
              <a:rPr lang="en-US" sz="2800" dirty="0">
                <a:latin typeface="Cambria" panose="02040503050406030204" pitchFamily="18" charset="0"/>
                <a:ea typeface="Cambria" panose="02040503050406030204" pitchFamily="18" charset="0"/>
              </a:rPr>
              <a:t> portal, FPO apps) mainly provide historical prices or advisories, but lack predictive analytics for organic produce.</a:t>
            </a:r>
          </a:p>
          <a:p>
            <a:pPr marL="457200" indent="-457200">
              <a:buFont typeface="Wingdings" panose="05000000000000000000" pitchFamily="2" charset="2"/>
              <a:buChar char="Ø"/>
            </a:pPr>
            <a:r>
              <a:rPr lang="en-US" sz="2800" dirty="0">
                <a:latin typeface="Cambria" panose="02040503050406030204" pitchFamily="18" charset="0"/>
                <a:ea typeface="Cambria" panose="02040503050406030204" pitchFamily="18" charset="0"/>
              </a:rPr>
              <a:t> Gap: Few systems focus on organic crops + region-wise market estimation, making this project novel and impactful.</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40446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F53515-AA17-92C3-BBAC-DEB619E8DE83}"/>
              </a:ext>
            </a:extLst>
          </p:cNvPr>
          <p:cNvSpPr txBox="1"/>
          <p:nvPr/>
        </p:nvSpPr>
        <p:spPr>
          <a:xfrm>
            <a:off x="881743" y="183570"/>
            <a:ext cx="6096000" cy="584775"/>
          </a:xfrm>
          <a:prstGeom prst="rect">
            <a:avLst/>
          </a:prstGeom>
          <a:noFill/>
        </p:spPr>
        <p:txBody>
          <a:bodyPr wrap="square">
            <a:spAutoFit/>
          </a:bodyPr>
          <a:lstStyle/>
          <a:p>
            <a:r>
              <a:rPr lang="en-US" sz="3200" b="1" dirty="0">
                <a:solidFill>
                  <a:schemeClr val="bg2">
                    <a:lumMod val="75000"/>
                  </a:schemeClr>
                </a:solidFill>
                <a:latin typeface="Cambria" panose="02040503050406030204" pitchFamily="18" charset="0"/>
                <a:ea typeface="Cambria" panose="02040503050406030204" pitchFamily="18" charset="0"/>
              </a:rPr>
              <a:t>Analysis of Problem Statement</a:t>
            </a:r>
            <a:endParaRPr lang="en-IN" sz="3200" b="1" dirty="0">
              <a:solidFill>
                <a:schemeClr val="bg2">
                  <a:lumMod val="75000"/>
                </a:schemeClr>
              </a:solidFill>
            </a:endParaRPr>
          </a:p>
        </p:txBody>
      </p:sp>
      <p:sp>
        <p:nvSpPr>
          <p:cNvPr id="4" name="TextBox 3">
            <a:extLst>
              <a:ext uri="{FF2B5EF4-FFF2-40B4-BE49-F238E27FC236}">
                <a16:creationId xmlns:a16="http://schemas.microsoft.com/office/drawing/2014/main" id="{C83A7FA3-A6C8-3603-AA26-1CC0D4B7AA12}"/>
              </a:ext>
            </a:extLst>
          </p:cNvPr>
          <p:cNvSpPr txBox="1"/>
          <p:nvPr/>
        </p:nvSpPr>
        <p:spPr>
          <a:xfrm>
            <a:off x="745671" y="982176"/>
            <a:ext cx="10700657" cy="4893647"/>
          </a:xfrm>
          <a:prstGeom prst="rect">
            <a:avLst/>
          </a:prstGeom>
          <a:noFill/>
        </p:spPr>
        <p:txBody>
          <a:bodyPr wrap="square" rtlCol="0">
            <a:spAutoFit/>
          </a:bodyPr>
          <a:lstStyle/>
          <a:p>
            <a:r>
              <a:rPr lang="en-IN" sz="2400" b="1" dirty="0">
                <a:latin typeface="Cambria" panose="02040503050406030204" pitchFamily="18" charset="0"/>
                <a:ea typeface="Cambria" panose="02040503050406030204" pitchFamily="18" charset="0"/>
              </a:rPr>
              <a:t>Input: </a:t>
            </a:r>
            <a:r>
              <a:rPr lang="en-IN" sz="2400" dirty="0">
                <a:latin typeface="Cambria" panose="02040503050406030204" pitchFamily="18" charset="0"/>
                <a:ea typeface="Cambria" panose="02040503050406030204" pitchFamily="18" charset="0"/>
              </a:rPr>
              <a:t>Historical mandi price data (min/max/modal), arrivals (supply), weather factors (rainfall, temperature), seasonal/festival indicators.</a:t>
            </a:r>
          </a:p>
          <a:p>
            <a:endParaRPr lang="en-IN" sz="2400" b="1" dirty="0">
              <a:latin typeface="Cambria" panose="02040503050406030204" pitchFamily="18" charset="0"/>
              <a:ea typeface="Cambria" panose="02040503050406030204" pitchFamily="18" charset="0"/>
            </a:endParaRPr>
          </a:p>
          <a:p>
            <a:r>
              <a:rPr lang="en-IN" sz="2400" b="1" dirty="0">
                <a:latin typeface="Cambria" panose="02040503050406030204" pitchFamily="18" charset="0"/>
                <a:ea typeface="Cambria" panose="02040503050406030204" pitchFamily="18" charset="0"/>
              </a:rPr>
              <a:t>Processing: </a:t>
            </a:r>
            <a:r>
              <a:rPr lang="en-IN" sz="2400" dirty="0">
                <a:latin typeface="Cambria" panose="02040503050406030204" pitchFamily="18" charset="0"/>
                <a:ea typeface="Cambria" panose="02040503050406030204" pitchFamily="18" charset="0"/>
              </a:rPr>
              <a:t>Data cleaning, feature engineering, forecasting models (Prophet, LSTM).</a:t>
            </a:r>
          </a:p>
          <a:p>
            <a:endParaRPr lang="en-IN" sz="2400" b="1" dirty="0">
              <a:latin typeface="Cambria" panose="02040503050406030204" pitchFamily="18" charset="0"/>
              <a:ea typeface="Cambria" panose="02040503050406030204" pitchFamily="18" charset="0"/>
            </a:endParaRPr>
          </a:p>
          <a:p>
            <a:r>
              <a:rPr lang="en-IN" sz="2400" b="1" dirty="0" err="1">
                <a:latin typeface="Cambria" panose="02040503050406030204" pitchFamily="18" charset="0"/>
                <a:ea typeface="Cambria" panose="02040503050406030204" pitchFamily="18" charset="0"/>
              </a:rPr>
              <a:t>Output:</a:t>
            </a:r>
            <a:r>
              <a:rPr lang="en-IN" sz="2400" dirty="0" err="1">
                <a:latin typeface="Cambria" panose="02040503050406030204" pitchFamily="18" charset="0"/>
                <a:ea typeface="Cambria" panose="02040503050406030204" pitchFamily="18" charset="0"/>
              </a:rPr>
              <a:t>Future</a:t>
            </a:r>
            <a:r>
              <a:rPr lang="en-IN" sz="2400" dirty="0">
                <a:latin typeface="Cambria" panose="02040503050406030204" pitchFamily="18" charset="0"/>
                <a:ea typeface="Cambria" panose="02040503050406030204" pitchFamily="18" charset="0"/>
              </a:rPr>
              <a:t> price trends (6–12 months).</a:t>
            </a:r>
          </a:p>
          <a:p>
            <a:r>
              <a:rPr lang="en-IN" sz="2400" dirty="0">
                <a:latin typeface="Cambria" panose="02040503050406030204" pitchFamily="18" charset="0"/>
                <a:ea typeface="Cambria" panose="02040503050406030204" pitchFamily="18" charset="0"/>
              </a:rPr>
              <a:t>Demand-supply estimation.</a:t>
            </a:r>
          </a:p>
          <a:p>
            <a:r>
              <a:rPr lang="en-IN" sz="2400" dirty="0">
                <a:latin typeface="Cambria" panose="02040503050406030204" pitchFamily="18" charset="0"/>
                <a:ea typeface="Cambria" panose="02040503050406030204" pitchFamily="18" charset="0"/>
              </a:rPr>
              <a:t>Region-wise forecasts (Bengaluru, Mysuru, Hubli).</a:t>
            </a:r>
          </a:p>
          <a:p>
            <a:endParaRPr lang="en-IN" sz="2400" b="1" dirty="0">
              <a:latin typeface="Cambria" panose="02040503050406030204" pitchFamily="18" charset="0"/>
              <a:ea typeface="Cambria" panose="02040503050406030204" pitchFamily="18" charset="0"/>
            </a:endParaRPr>
          </a:p>
          <a:p>
            <a:r>
              <a:rPr lang="en-IN" sz="2400" b="1" dirty="0" err="1">
                <a:latin typeface="Cambria" panose="02040503050406030204" pitchFamily="18" charset="0"/>
                <a:ea typeface="Cambria" panose="02040503050406030204" pitchFamily="18" charset="0"/>
              </a:rPr>
              <a:t>Impact:</a:t>
            </a:r>
            <a:r>
              <a:rPr lang="en-IN" sz="2400" dirty="0" err="1">
                <a:latin typeface="Cambria" panose="02040503050406030204" pitchFamily="18" charset="0"/>
                <a:ea typeface="Cambria" panose="02040503050406030204" pitchFamily="18" charset="0"/>
              </a:rPr>
              <a:t>Farmers</a:t>
            </a:r>
            <a:r>
              <a:rPr lang="en-IN" sz="2400" dirty="0">
                <a:latin typeface="Cambria" panose="02040503050406030204" pitchFamily="18" charset="0"/>
                <a:ea typeface="Cambria" panose="02040503050406030204" pitchFamily="18" charset="0"/>
              </a:rPr>
              <a:t> → better crop planning.</a:t>
            </a:r>
          </a:p>
          <a:p>
            <a:r>
              <a:rPr lang="en-IN" sz="2400" dirty="0">
                <a:latin typeface="Cambria" panose="02040503050406030204" pitchFamily="18" charset="0"/>
                <a:ea typeface="Cambria" panose="02040503050406030204" pitchFamily="18" charset="0"/>
              </a:rPr>
              <a:t>Policymakers → improved </a:t>
            </a:r>
            <a:r>
              <a:rPr lang="en-IN" sz="2400" dirty="0" err="1">
                <a:latin typeface="Cambria" panose="02040503050406030204" pitchFamily="18" charset="0"/>
                <a:ea typeface="Cambria" panose="02040503050406030204" pitchFamily="18" charset="0"/>
              </a:rPr>
              <a:t>agri</a:t>
            </a:r>
            <a:r>
              <a:rPr lang="en-IN" sz="2400" dirty="0">
                <a:latin typeface="Cambria" panose="02040503050406030204" pitchFamily="18" charset="0"/>
                <a:ea typeface="Cambria" panose="02040503050406030204" pitchFamily="18" charset="0"/>
              </a:rPr>
              <a:t>-market policies.</a:t>
            </a:r>
          </a:p>
          <a:p>
            <a:r>
              <a:rPr lang="en-IN" sz="2400" dirty="0">
                <a:latin typeface="Cambria" panose="02040503050406030204" pitchFamily="18" charset="0"/>
                <a:ea typeface="Cambria" panose="02040503050406030204" pitchFamily="18" charset="0"/>
              </a:rPr>
              <a:t>Traders/FPOs → optimized buying/selling strategies.</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53155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Technology Stack Components:</a:t>
            </a:r>
          </a:p>
          <a:p>
            <a:pPr marL="495300" lvl="0" indent="-342900" algn="just">
              <a:spcBef>
                <a:spcPts val="0"/>
              </a:spcBef>
              <a:buSzPct val="100000"/>
              <a:buAutoNum type="arabicPeriod"/>
            </a:pPr>
            <a:endParaRPr lang="en-US" b="1" dirty="0">
              <a:latin typeface="Cambria" panose="02040503050406030204" pitchFamily="18" charset="0"/>
              <a:ea typeface="Cambria" panose="02040503050406030204" pitchFamily="18" charset="0"/>
            </a:endParaRPr>
          </a:p>
          <a:p>
            <a:pPr marL="495300" lvl="0" indent="-342900" algn="just">
              <a:spcBef>
                <a:spcPts val="0"/>
              </a:spcBef>
              <a:buSzPct val="100000"/>
              <a:buAutoNum type="arabicPeriod"/>
            </a:pPr>
            <a:r>
              <a:rPr lang="en-US" b="1" dirty="0">
                <a:latin typeface="Cambria" panose="02040503050406030204" pitchFamily="18" charset="0"/>
                <a:ea typeface="Cambria" panose="02040503050406030204" pitchFamily="18" charset="0"/>
              </a:rPr>
              <a:t>Programming Languages:</a:t>
            </a:r>
          </a:p>
          <a:p>
            <a:pPr marL="152400" lvl="0" indent="0" algn="just">
              <a:spcBef>
                <a:spcPts val="0"/>
              </a:spcBef>
              <a:buSzPct val="100000"/>
              <a:buNone/>
            </a:pPr>
            <a:r>
              <a:rPr lang="en-US" b="1"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Python 3.10+ → Data collection, preprocessing, ML/AI modeling</a:t>
            </a:r>
          </a:p>
          <a:p>
            <a:pPr marL="152400" lvl="0" indent="0" algn="just">
              <a:spcBef>
                <a:spcPts val="0"/>
              </a:spcBef>
              <a:buSzPct val="100000"/>
              <a:buNone/>
            </a:pPr>
            <a:r>
              <a:rPr lang="en-US" dirty="0">
                <a:latin typeface="Cambria" panose="02040503050406030204" pitchFamily="18" charset="0"/>
                <a:ea typeface="Cambria" panose="02040503050406030204" pitchFamily="18" charset="0"/>
              </a:rPr>
              <a:t>         -HTML, CSS, JavaScript → Frontend dashboard</a:t>
            </a:r>
          </a:p>
          <a:p>
            <a:pPr marL="152400" lvl="0" indent="0" algn="just">
              <a:spcBef>
                <a:spcPts val="0"/>
              </a:spcBef>
              <a:buSzPct val="100000"/>
              <a:buNone/>
            </a:pPr>
            <a:endParaRPr lang="en-US" b="1" dirty="0">
              <a:latin typeface="Cambria" panose="02040503050406030204" pitchFamily="18" charset="0"/>
              <a:ea typeface="Cambria" panose="02040503050406030204" pitchFamily="18" charset="0"/>
            </a:endParaRPr>
          </a:p>
          <a:p>
            <a:pPr marL="152400" lvl="0" indent="0" algn="just">
              <a:spcBef>
                <a:spcPts val="0"/>
              </a:spcBef>
              <a:buSzPct val="100000"/>
              <a:buNone/>
            </a:pPr>
            <a:r>
              <a:rPr lang="en-US" b="1" dirty="0">
                <a:latin typeface="Cambria" panose="02040503050406030204" pitchFamily="18" charset="0"/>
                <a:ea typeface="Cambria" panose="02040503050406030204" pitchFamily="18" charset="0"/>
              </a:rPr>
              <a:t>2. Libraries &amp; Frameworks (Python):</a:t>
            </a:r>
          </a:p>
          <a:p>
            <a:pPr marL="152400" lvl="0" indent="0" algn="just">
              <a:spcBef>
                <a:spcPts val="0"/>
              </a:spcBef>
              <a:buSzPct val="100000"/>
              <a:buNone/>
            </a:pPr>
            <a:r>
              <a:rPr lang="en-US" dirty="0">
                <a:latin typeface="Cambria" panose="02040503050406030204" pitchFamily="18" charset="0"/>
                <a:ea typeface="Cambria" panose="02040503050406030204" pitchFamily="18" charset="0"/>
              </a:rPr>
              <a:t>        -Data Handling &amp; Preprocessing: Pandas, NumPy</a:t>
            </a:r>
          </a:p>
          <a:p>
            <a:pPr marL="152400" lvl="0" indent="0" algn="just">
              <a:spcBef>
                <a:spcPts val="0"/>
              </a:spcBef>
              <a:buSzPct val="100000"/>
              <a:buNone/>
            </a:pPr>
            <a:r>
              <a:rPr lang="en-US" dirty="0">
                <a:latin typeface="Cambria" panose="02040503050406030204" pitchFamily="18" charset="0"/>
                <a:ea typeface="Cambria" panose="02040503050406030204" pitchFamily="18" charset="0"/>
              </a:rPr>
              <a:t>        -Visualization: Matplotlib, Seaborn</a:t>
            </a:r>
          </a:p>
          <a:p>
            <a:pPr marL="152400" indent="0" algn="just">
              <a:spcBef>
                <a:spcPts val="0"/>
              </a:spcBef>
              <a:buSzPct val="100000"/>
              <a:buNone/>
            </a:pP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ForecastingModels:ARIMA</a:t>
            </a:r>
            <a:r>
              <a:rPr lang="en-US" dirty="0">
                <a:latin typeface="Cambria" panose="02040503050406030204" pitchFamily="18" charset="0"/>
                <a:ea typeface="Cambria" panose="02040503050406030204" pitchFamily="18" charset="0"/>
              </a:rPr>
              <a:t>/SARIMA(</a:t>
            </a:r>
            <a:r>
              <a:rPr lang="en-US" dirty="0" err="1">
                <a:latin typeface="Cambria" panose="02040503050406030204" pitchFamily="18" charset="0"/>
                <a:ea typeface="Cambria" panose="02040503050406030204" pitchFamily="18" charset="0"/>
              </a:rPr>
              <a:t>statsmodels</a:t>
            </a:r>
            <a:r>
              <a:rPr lang="en-US" dirty="0">
                <a:latin typeface="Cambria" panose="02040503050406030204" pitchFamily="18" charset="0"/>
                <a:ea typeface="Cambria" panose="02040503050406030204" pitchFamily="18" charset="0"/>
              </a:rPr>
              <a:t>),Prophet(Meta), LSTM/GRU(TensorFlow/</a:t>
            </a:r>
            <a:r>
              <a:rPr lang="en-US" dirty="0" err="1">
                <a:latin typeface="Cambria" panose="02040503050406030204" pitchFamily="18" charset="0"/>
                <a:ea typeface="Cambria" panose="02040503050406030204" pitchFamily="18" charset="0"/>
              </a:rPr>
              <a:t>PyTorch</a:t>
            </a:r>
            <a:r>
              <a:rPr lang="en-US" dirty="0">
                <a:latin typeface="Cambria" panose="02040503050406030204" pitchFamily="18" charset="0"/>
                <a:ea typeface="Cambria" panose="02040503050406030204" pitchFamily="18" charset="0"/>
              </a:rPr>
              <a:t>)</a:t>
            </a:r>
          </a:p>
          <a:p>
            <a:pPr marL="152400" indent="0" algn="just">
              <a:spcBef>
                <a:spcPts val="0"/>
              </a:spcBef>
              <a:buSzPct val="100000"/>
              <a:buNone/>
            </a:pPr>
            <a:r>
              <a:rPr lang="en-US" dirty="0">
                <a:latin typeface="Cambria" panose="02040503050406030204" pitchFamily="18" charset="0"/>
                <a:ea typeface="Cambria" panose="02040503050406030204" pitchFamily="18" charset="0"/>
              </a:rPr>
              <a:t>        -Machine Learning Tools: Scikit-learn</a:t>
            </a:r>
          </a:p>
          <a:p>
            <a:pPr marL="152400" lvl="0" indent="0" algn="just">
              <a:spcBef>
                <a:spcPts val="0"/>
              </a:spcBef>
              <a:buSzPct val="100000"/>
              <a:buNone/>
            </a:pPr>
            <a:r>
              <a:rPr lang="en-US" dirty="0">
                <a:latin typeface="Cambria" panose="02040503050406030204" pitchFamily="18" charset="0"/>
                <a:ea typeface="Cambria" panose="02040503050406030204" pitchFamily="18" charset="0"/>
              </a:rPr>
              <a:t>        -APIs/Backend: Flask or </a:t>
            </a:r>
            <a:r>
              <a:rPr lang="en-US" dirty="0" err="1">
                <a:latin typeface="Cambria" panose="02040503050406030204" pitchFamily="18" charset="0"/>
                <a:ea typeface="Cambria" panose="02040503050406030204" pitchFamily="18" charset="0"/>
              </a:rPr>
              <a:t>FastAPI</a:t>
            </a: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73AD1D-1A3E-FADC-2718-51FFD2B8A3CE}"/>
              </a:ext>
            </a:extLst>
          </p:cNvPr>
          <p:cNvSpPr txBox="1"/>
          <p:nvPr/>
        </p:nvSpPr>
        <p:spPr>
          <a:xfrm>
            <a:off x="849085" y="248884"/>
            <a:ext cx="6096000" cy="584775"/>
          </a:xfrm>
          <a:prstGeom prst="rect">
            <a:avLst/>
          </a:prstGeom>
          <a:noFill/>
        </p:spPr>
        <p:txBody>
          <a:bodyPr wrap="square">
            <a:spAutoFit/>
          </a:bodyPr>
          <a:lstStyle/>
          <a:p>
            <a:r>
              <a:rPr lang="en-US" sz="3200" b="1" dirty="0">
                <a:solidFill>
                  <a:schemeClr val="bg2">
                    <a:lumMod val="75000"/>
                  </a:schemeClr>
                </a:solidFill>
                <a:latin typeface="Cambria" panose="02040503050406030204" pitchFamily="18" charset="0"/>
                <a:ea typeface="Cambria" panose="02040503050406030204" pitchFamily="18" charset="0"/>
              </a:rPr>
              <a:t>Analysis of Problem Statement</a:t>
            </a:r>
            <a:endParaRPr lang="en-IN" sz="3200" b="1" dirty="0">
              <a:solidFill>
                <a:schemeClr val="bg2">
                  <a:lumMod val="75000"/>
                </a:schemeClr>
              </a:solidFill>
            </a:endParaRPr>
          </a:p>
        </p:txBody>
      </p:sp>
      <p:sp>
        <p:nvSpPr>
          <p:cNvPr id="7" name="TextBox 6">
            <a:extLst>
              <a:ext uri="{FF2B5EF4-FFF2-40B4-BE49-F238E27FC236}">
                <a16:creationId xmlns:a16="http://schemas.microsoft.com/office/drawing/2014/main" id="{7F2E81B2-6538-CD00-C14D-7FF905D24CA8}"/>
              </a:ext>
            </a:extLst>
          </p:cNvPr>
          <p:cNvSpPr txBox="1"/>
          <p:nvPr/>
        </p:nvSpPr>
        <p:spPr>
          <a:xfrm>
            <a:off x="685801" y="1186542"/>
            <a:ext cx="9873343" cy="4739759"/>
          </a:xfrm>
          <a:prstGeom prst="rect">
            <a:avLst/>
          </a:prstGeom>
          <a:noFill/>
        </p:spPr>
        <p:txBody>
          <a:bodyPr wrap="square" rtlCol="0">
            <a:spAutoFit/>
          </a:bodyPr>
          <a:lstStyle/>
          <a:p>
            <a:pPr marL="152400" lvl="0" algn="just">
              <a:buSzPct val="100000"/>
            </a:pPr>
            <a:r>
              <a:rPr lang="en-US" sz="2400" b="1" dirty="0">
                <a:latin typeface="Cambria" panose="02040503050406030204" pitchFamily="18" charset="0"/>
                <a:ea typeface="Cambria" panose="02040503050406030204" pitchFamily="18" charset="0"/>
              </a:rPr>
              <a:t>3. Frontend (Visualization &amp; UI):</a:t>
            </a:r>
          </a:p>
          <a:p>
            <a:pPr marL="152400" lvl="0" algn="just">
              <a:buSzPct val="100000"/>
            </a:pPr>
            <a:r>
              <a:rPr lang="en-US" sz="2400" dirty="0">
                <a:latin typeface="Cambria" panose="02040503050406030204" pitchFamily="18" charset="0"/>
                <a:ea typeface="Cambria" panose="02040503050406030204" pitchFamily="18" charset="0"/>
              </a:rPr>
              <a:t>       -Chart.js → Interactive graphs and trend visualization</a:t>
            </a:r>
          </a:p>
          <a:p>
            <a:pPr marL="152400" lvl="0" algn="just">
              <a:buSzPct val="100000"/>
            </a:pPr>
            <a:r>
              <a:rPr lang="en-US" sz="2400" dirty="0">
                <a:latin typeface="Cambria" panose="02040503050406030204" pitchFamily="18" charset="0"/>
                <a:ea typeface="Cambria" panose="02040503050406030204" pitchFamily="18" charset="0"/>
              </a:rPr>
              <a:t>       -Bootstrap/Tailwind CSS (optional) → Clean UI</a:t>
            </a:r>
          </a:p>
          <a:p>
            <a:pPr marL="152400" lvl="0" algn="just">
              <a:buSzPct val="100000"/>
            </a:pPr>
            <a:endParaRPr lang="en-US" sz="2400" b="1" dirty="0">
              <a:latin typeface="Cambria" panose="02040503050406030204" pitchFamily="18" charset="0"/>
              <a:ea typeface="Cambria" panose="02040503050406030204" pitchFamily="18" charset="0"/>
            </a:endParaRPr>
          </a:p>
          <a:p>
            <a:pPr marL="152400" lvl="0" algn="just">
              <a:buSzPct val="100000"/>
            </a:pPr>
            <a:r>
              <a:rPr lang="en-US" sz="2400" b="1" dirty="0">
                <a:latin typeface="Cambria" panose="02040503050406030204" pitchFamily="18" charset="0"/>
                <a:ea typeface="Cambria" panose="02040503050406030204" pitchFamily="18" charset="0"/>
              </a:rPr>
              <a:t>4. Database (optional but recommended):</a:t>
            </a:r>
          </a:p>
          <a:p>
            <a:pPr marL="152400" lvl="0" algn="just">
              <a:buSzPct val="100000"/>
            </a:pPr>
            <a:r>
              <a:rPr lang="en-US" sz="2400" dirty="0">
                <a:latin typeface="Cambria" panose="02040503050406030204" pitchFamily="18" charset="0"/>
                <a:ea typeface="Cambria" panose="02040503050406030204" pitchFamily="18" charset="0"/>
              </a:rPr>
              <a:t>       -MySQL / PostgreSQL → Storing historical and forecasted crop data</a:t>
            </a:r>
          </a:p>
          <a:p>
            <a:pPr marL="152400" lvl="0" algn="just">
              <a:buSzPct val="100000"/>
            </a:pPr>
            <a:endParaRPr lang="en-US" sz="2400" b="1" dirty="0">
              <a:latin typeface="Cambria" panose="02040503050406030204" pitchFamily="18" charset="0"/>
              <a:ea typeface="Cambria" panose="02040503050406030204" pitchFamily="18" charset="0"/>
            </a:endParaRPr>
          </a:p>
          <a:p>
            <a:pPr marL="152400" lvl="0" algn="just">
              <a:buSzPct val="100000"/>
            </a:pPr>
            <a:r>
              <a:rPr lang="en-US" sz="2400" b="1" dirty="0">
                <a:latin typeface="Cambria" panose="02040503050406030204" pitchFamily="18" charset="0"/>
                <a:ea typeface="Cambria" panose="02040503050406030204" pitchFamily="18" charset="0"/>
              </a:rPr>
              <a:t>5. Tools &amp; Platforms:</a:t>
            </a:r>
          </a:p>
          <a:p>
            <a:pPr marL="152400" lvl="0" algn="just">
              <a:buSzPct val="100000"/>
            </a:pPr>
            <a:r>
              <a:rPr lang="en-US" sz="2400" dirty="0">
                <a:latin typeface="Cambria" panose="02040503050406030204" pitchFamily="18" charset="0"/>
                <a:ea typeface="Cambria" panose="02040503050406030204" pitchFamily="18" charset="0"/>
              </a:rPr>
              <a:t>      -VS Code / </a:t>
            </a:r>
            <a:r>
              <a:rPr lang="en-US" sz="2400" dirty="0" err="1">
                <a:latin typeface="Cambria" panose="02040503050406030204" pitchFamily="18" charset="0"/>
                <a:ea typeface="Cambria" panose="02040503050406030204" pitchFamily="18" charset="0"/>
              </a:rPr>
              <a:t>Jupyter</a:t>
            </a:r>
            <a:r>
              <a:rPr lang="en-US" sz="2400" dirty="0">
                <a:latin typeface="Cambria" panose="02040503050406030204" pitchFamily="18" charset="0"/>
                <a:ea typeface="Cambria" panose="02040503050406030204" pitchFamily="18" charset="0"/>
              </a:rPr>
              <a:t> Notebook → Development environment</a:t>
            </a:r>
          </a:p>
          <a:p>
            <a:pPr marL="152400" lvl="0" algn="just">
              <a:buSzPct val="100000"/>
            </a:pPr>
            <a:r>
              <a:rPr lang="en-US" sz="2400" dirty="0">
                <a:latin typeface="Cambria" panose="02040503050406030204" pitchFamily="18" charset="0"/>
                <a:ea typeface="Cambria" panose="02040503050406030204" pitchFamily="18" charset="0"/>
              </a:rPr>
              <a:t>      -GitHub → Version control and project repo</a:t>
            </a:r>
          </a:p>
          <a:p>
            <a:pPr marL="152400" lvl="0" algn="just">
              <a:buSzPct val="100000"/>
            </a:pPr>
            <a:r>
              <a:rPr lang="en-US" sz="2400" dirty="0">
                <a:latin typeface="Cambria" panose="02040503050406030204" pitchFamily="18" charset="0"/>
                <a:ea typeface="Cambria" panose="02040503050406030204" pitchFamily="18" charset="0"/>
              </a:rPr>
              <a:t>      -Google </a:t>
            </a:r>
            <a:r>
              <a:rPr lang="en-US" sz="2400" dirty="0" err="1">
                <a:latin typeface="Cambria" panose="02040503050406030204" pitchFamily="18" charset="0"/>
                <a:ea typeface="Cambria" panose="02040503050406030204" pitchFamily="18" charset="0"/>
              </a:rPr>
              <a:t>Colab</a:t>
            </a:r>
            <a:r>
              <a:rPr lang="en-US" sz="2400" dirty="0">
                <a:latin typeface="Cambria" panose="02040503050406030204" pitchFamily="18" charset="0"/>
                <a:ea typeface="Cambria" panose="02040503050406030204" pitchFamily="18" charset="0"/>
              </a:rPr>
              <a:t> / Kaggle → Model training &amp; experiments</a:t>
            </a:r>
          </a:p>
          <a:p>
            <a:pPr marL="152400" lvl="0" algn="just">
              <a:buSzPct val="100000"/>
            </a:pP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Agmarknet</a:t>
            </a:r>
            <a:r>
              <a:rPr lang="en-US" sz="2400" dirty="0">
                <a:latin typeface="Cambria" panose="02040503050406030204" pitchFamily="18" charset="0"/>
                <a:ea typeface="Cambria" panose="02040503050406030204" pitchFamily="18" charset="0"/>
              </a:rPr>
              <a:t> / FAOSTAT / IMD → Dataset sources</a:t>
            </a:r>
          </a:p>
          <a:p>
            <a:endParaRPr lang="en-IN" dirty="0"/>
          </a:p>
        </p:txBody>
      </p:sp>
    </p:spTree>
    <p:extLst>
      <p:ext uri="{BB962C8B-B14F-4D97-AF65-F5344CB8AC3E}">
        <p14:creationId xmlns:p14="http://schemas.microsoft.com/office/powerpoint/2010/main" val="31774704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7620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err="1">
                <a:solidFill>
                  <a:schemeClr val="accent2">
                    <a:lumMod val="75000"/>
                  </a:schemeClr>
                </a:solidFill>
                <a:latin typeface="Cambria" panose="02040503050406030204" pitchFamily="18" charset="0"/>
                <a:ea typeface="Cambria" panose="02040503050406030204" pitchFamily="18" charset="0"/>
              </a:rPr>
              <a:t>Github</a:t>
            </a:r>
            <a:r>
              <a:rPr lang="en-US" b="1" dirty="0">
                <a:solidFill>
                  <a:schemeClr val="accent2">
                    <a:lumMod val="75000"/>
                  </a:schemeClr>
                </a:solidFill>
                <a:latin typeface="Cambria" panose="02040503050406030204" pitchFamily="18" charset="0"/>
                <a:ea typeface="Cambria" panose="02040503050406030204" pitchFamily="18" charset="0"/>
              </a:rPr>
              <a:t> Link</a:t>
            </a: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hlinkClick r:id="rId3"/>
              </a:rPr>
              <a:t> https://github.com/kavan-r/OrganicCrop-Forecast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4" name="TextBox 3">
            <a:extLst>
              <a:ext uri="{FF2B5EF4-FFF2-40B4-BE49-F238E27FC236}">
                <a16:creationId xmlns:a16="http://schemas.microsoft.com/office/drawing/2014/main" id="{2507945D-CAFF-3BF6-543D-AD5F14425FF5}"/>
              </a:ext>
            </a:extLst>
          </p:cNvPr>
          <p:cNvSpPr txBox="1"/>
          <p:nvPr/>
        </p:nvSpPr>
        <p:spPr>
          <a:xfrm>
            <a:off x="555171" y="856357"/>
            <a:ext cx="11419115" cy="5262979"/>
          </a:xfrm>
          <a:prstGeom prst="rect">
            <a:avLst/>
          </a:prstGeom>
          <a:noFill/>
        </p:spPr>
        <p:txBody>
          <a:bodyPr wrap="square" rtlCol="0">
            <a:spAutoFit/>
          </a:bodyPr>
          <a:lstStyle/>
          <a:p>
            <a:pPr marL="285750" indent="-285750">
              <a:buFont typeface="Wingdings" panose="05000000000000000000" pitchFamily="2" charset="2"/>
              <a:buChar char="v"/>
            </a:pPr>
            <a:r>
              <a:rPr lang="en-IN" sz="2400" b="1" dirty="0"/>
              <a:t> </a:t>
            </a:r>
            <a:r>
              <a:rPr lang="en-IN" sz="2400" b="1" dirty="0">
                <a:latin typeface="Cambria" panose="02040503050406030204" pitchFamily="18" charset="0"/>
                <a:ea typeface="Cambria" panose="02040503050406030204" pitchFamily="18" charset="0"/>
              </a:rPr>
              <a:t>Software Requirements:</a:t>
            </a:r>
          </a:p>
          <a:p>
            <a:r>
              <a:rPr lang="en-IN" sz="2400" dirty="0">
                <a:latin typeface="Cambria" panose="02040503050406030204" pitchFamily="18" charset="0"/>
                <a:ea typeface="Cambria" panose="02040503050406030204" pitchFamily="18" charset="0"/>
              </a:rPr>
              <a:t> Programming Language: Python 3.10+</a:t>
            </a:r>
          </a:p>
          <a:p>
            <a:endParaRPr lang="en-IN" sz="2400" dirty="0">
              <a:latin typeface="Cambria" panose="02040503050406030204" pitchFamily="18" charset="0"/>
              <a:ea typeface="Cambria" panose="02040503050406030204" pitchFamily="18" charset="0"/>
            </a:endParaRPr>
          </a:p>
          <a:p>
            <a:r>
              <a:rPr lang="en-IN" sz="2400" dirty="0">
                <a:latin typeface="Cambria" panose="02040503050406030204" pitchFamily="18" charset="0"/>
                <a:ea typeface="Cambria" panose="02040503050406030204" pitchFamily="18" charset="0"/>
              </a:rPr>
              <a:t> Libraries: Pandas, NumPy, Scikit-learn, TensorFlow/</a:t>
            </a:r>
            <a:r>
              <a:rPr lang="en-IN" sz="2400" dirty="0" err="1">
                <a:latin typeface="Cambria" panose="02040503050406030204" pitchFamily="18" charset="0"/>
                <a:ea typeface="Cambria" panose="02040503050406030204" pitchFamily="18" charset="0"/>
              </a:rPr>
              <a:t>PyTorch</a:t>
            </a:r>
            <a:r>
              <a:rPr lang="en-IN" sz="2400" dirty="0">
                <a:latin typeface="Cambria" panose="02040503050406030204" pitchFamily="18" charset="0"/>
                <a:ea typeface="Cambria" panose="02040503050406030204" pitchFamily="18" charset="0"/>
              </a:rPr>
              <a:t>, </a:t>
            </a:r>
            <a:r>
              <a:rPr lang="en-IN" sz="2400" dirty="0" err="1">
                <a:latin typeface="Cambria" panose="02040503050406030204" pitchFamily="18" charset="0"/>
                <a:ea typeface="Cambria" panose="02040503050406030204" pitchFamily="18" charset="0"/>
              </a:rPr>
              <a:t>Prophet,Statsmodels</a:t>
            </a:r>
            <a:endParaRPr lang="en-IN" sz="2400" dirty="0">
              <a:latin typeface="Cambria" panose="02040503050406030204" pitchFamily="18" charset="0"/>
              <a:ea typeface="Cambria" panose="02040503050406030204" pitchFamily="18" charset="0"/>
            </a:endParaRPr>
          </a:p>
          <a:p>
            <a:endParaRPr lang="en-IN" sz="2400" dirty="0">
              <a:latin typeface="Cambria" panose="02040503050406030204" pitchFamily="18" charset="0"/>
              <a:ea typeface="Cambria" panose="02040503050406030204" pitchFamily="18" charset="0"/>
            </a:endParaRPr>
          </a:p>
          <a:p>
            <a:r>
              <a:rPr lang="en-IN" sz="2400" dirty="0">
                <a:latin typeface="Cambria" panose="02040503050406030204" pitchFamily="18" charset="0"/>
                <a:ea typeface="Cambria" panose="02040503050406030204" pitchFamily="18" charset="0"/>
              </a:rPr>
              <a:t>Visualization: Matplotlib, Seaborn, Chart.js (for dashboard)</a:t>
            </a:r>
          </a:p>
          <a:p>
            <a:endParaRPr lang="en-IN" sz="2400" dirty="0">
              <a:latin typeface="Cambria" panose="02040503050406030204" pitchFamily="18" charset="0"/>
              <a:ea typeface="Cambria" panose="02040503050406030204" pitchFamily="18" charset="0"/>
            </a:endParaRPr>
          </a:p>
          <a:p>
            <a:r>
              <a:rPr lang="en-IN" sz="2400" dirty="0">
                <a:latin typeface="Cambria" panose="02040503050406030204" pitchFamily="18" charset="0"/>
                <a:ea typeface="Cambria" panose="02040503050406030204" pitchFamily="18" charset="0"/>
              </a:rPr>
              <a:t>Backend Framework: Flask / </a:t>
            </a:r>
            <a:r>
              <a:rPr lang="en-IN" sz="2400" dirty="0" err="1">
                <a:latin typeface="Cambria" panose="02040503050406030204" pitchFamily="18" charset="0"/>
                <a:ea typeface="Cambria" panose="02040503050406030204" pitchFamily="18" charset="0"/>
              </a:rPr>
              <a:t>FastAPI</a:t>
            </a:r>
            <a:endParaRPr lang="en-IN" sz="2400" dirty="0">
              <a:latin typeface="Cambria" panose="02040503050406030204" pitchFamily="18" charset="0"/>
              <a:ea typeface="Cambria" panose="02040503050406030204" pitchFamily="18" charset="0"/>
            </a:endParaRPr>
          </a:p>
          <a:p>
            <a:endParaRPr lang="en-IN" sz="2400" dirty="0">
              <a:latin typeface="Cambria" panose="02040503050406030204" pitchFamily="18" charset="0"/>
              <a:ea typeface="Cambria" panose="02040503050406030204" pitchFamily="18" charset="0"/>
            </a:endParaRPr>
          </a:p>
          <a:p>
            <a:r>
              <a:rPr lang="en-IN" sz="2400" dirty="0">
                <a:latin typeface="Cambria" panose="02040503050406030204" pitchFamily="18" charset="0"/>
                <a:ea typeface="Cambria" panose="02040503050406030204" pitchFamily="18" charset="0"/>
              </a:rPr>
              <a:t>Frontend: HTML, CSS, JavaScript</a:t>
            </a:r>
          </a:p>
          <a:p>
            <a:endParaRPr lang="en-IN" sz="2400" dirty="0">
              <a:latin typeface="Cambria" panose="02040503050406030204" pitchFamily="18" charset="0"/>
              <a:ea typeface="Cambria" panose="02040503050406030204" pitchFamily="18" charset="0"/>
            </a:endParaRPr>
          </a:p>
          <a:p>
            <a:r>
              <a:rPr lang="en-IN" sz="2400" dirty="0">
                <a:latin typeface="Cambria" panose="02040503050406030204" pitchFamily="18" charset="0"/>
                <a:ea typeface="Cambria" panose="02040503050406030204" pitchFamily="18" charset="0"/>
              </a:rPr>
              <a:t>Database (optional): MySQL / PostgreSQL</a:t>
            </a:r>
          </a:p>
          <a:p>
            <a:endParaRPr lang="en-IN" sz="2400" dirty="0">
              <a:latin typeface="Cambria" panose="02040503050406030204" pitchFamily="18" charset="0"/>
              <a:ea typeface="Cambria" panose="02040503050406030204" pitchFamily="18" charset="0"/>
            </a:endParaRPr>
          </a:p>
          <a:p>
            <a:r>
              <a:rPr lang="en-IN" sz="2400" dirty="0">
                <a:latin typeface="Cambria" panose="02040503050406030204" pitchFamily="18" charset="0"/>
                <a:ea typeface="Cambria" panose="02040503050406030204" pitchFamily="18" charset="0"/>
              </a:rPr>
              <a:t>Tools: VS Code, </a:t>
            </a:r>
            <a:r>
              <a:rPr lang="en-IN" sz="2400" dirty="0" err="1">
                <a:latin typeface="Cambria" panose="02040503050406030204" pitchFamily="18" charset="0"/>
                <a:ea typeface="Cambria" panose="02040503050406030204" pitchFamily="18" charset="0"/>
              </a:rPr>
              <a:t>Jupyter</a:t>
            </a:r>
            <a:r>
              <a:rPr lang="en-IN" sz="2400" dirty="0">
                <a:latin typeface="Cambria" panose="02040503050406030204" pitchFamily="18" charset="0"/>
                <a:ea typeface="Cambria" panose="02040503050406030204" pitchFamily="18" charset="0"/>
              </a:rPr>
              <a:t> Notebook, Google </a:t>
            </a:r>
            <a:r>
              <a:rPr lang="en-IN" sz="2400" dirty="0" err="1">
                <a:latin typeface="Cambria" panose="02040503050406030204" pitchFamily="18" charset="0"/>
                <a:ea typeface="Cambria" panose="02040503050406030204" pitchFamily="18" charset="0"/>
              </a:rPr>
              <a:t>Colab</a:t>
            </a:r>
            <a:r>
              <a:rPr lang="en-IN" sz="2400" dirty="0">
                <a:latin typeface="Cambria" panose="02040503050406030204" pitchFamily="18" charset="0"/>
                <a:ea typeface="Cambria" panose="02040503050406030204" pitchFamily="18" charset="0"/>
              </a:rPr>
              <a:t>, GitHub</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88F15520-C555-8703-E955-5AFC929C3315}"/>
              </a:ext>
            </a:extLst>
          </p:cNvPr>
          <p:cNvSpPr txBox="1"/>
          <p:nvPr/>
        </p:nvSpPr>
        <p:spPr>
          <a:xfrm>
            <a:off x="812800" y="1143000"/>
            <a:ext cx="9100457" cy="4401205"/>
          </a:xfrm>
          <a:prstGeom prst="rect">
            <a:avLst/>
          </a:prstGeom>
          <a:noFill/>
        </p:spPr>
        <p:txBody>
          <a:bodyPr wrap="square" rtlCol="0">
            <a:spAutoFit/>
          </a:bodyPr>
          <a:lstStyle/>
          <a:p>
            <a:pPr marL="285750" indent="-285750">
              <a:buFont typeface="Wingdings" panose="05000000000000000000" pitchFamily="2" charset="2"/>
              <a:buChar char="v"/>
            </a:pPr>
            <a:r>
              <a:rPr lang="en-IN" sz="2800" b="1" dirty="0">
                <a:latin typeface="Cambria" panose="02040503050406030204" pitchFamily="18" charset="0"/>
                <a:ea typeface="Cambria" panose="02040503050406030204" pitchFamily="18" charset="0"/>
              </a:rPr>
              <a:t>Hardware  Requirements:</a:t>
            </a:r>
          </a:p>
          <a:p>
            <a:r>
              <a:rPr lang="en-IN" sz="2800" dirty="0">
                <a:latin typeface="Cambria" panose="02040503050406030204" pitchFamily="18" charset="0"/>
                <a:ea typeface="Cambria" panose="02040503050406030204" pitchFamily="18" charset="0"/>
              </a:rPr>
              <a:t> </a:t>
            </a:r>
          </a:p>
          <a:p>
            <a:r>
              <a:rPr lang="en-IN" sz="2800" dirty="0">
                <a:latin typeface="Cambria" panose="02040503050406030204" pitchFamily="18" charset="0"/>
                <a:ea typeface="Cambria" panose="02040503050406030204" pitchFamily="18" charset="0"/>
              </a:rPr>
              <a:t>Laptop/Desktop with 8 GB RAM</a:t>
            </a:r>
          </a:p>
          <a:p>
            <a:endParaRPr lang="en-IN" sz="2800" dirty="0">
              <a:latin typeface="Cambria" panose="02040503050406030204" pitchFamily="18" charset="0"/>
              <a:ea typeface="Cambria" panose="02040503050406030204" pitchFamily="18" charset="0"/>
            </a:endParaRPr>
          </a:p>
          <a:p>
            <a:r>
              <a:rPr lang="en-IN" sz="2800" dirty="0">
                <a:latin typeface="Cambria" panose="02040503050406030204" pitchFamily="18" charset="0"/>
                <a:ea typeface="Cambria" panose="02040503050406030204" pitchFamily="18" charset="0"/>
              </a:rPr>
              <a:t>Intel i5 or higher processor</a:t>
            </a:r>
          </a:p>
          <a:p>
            <a:endParaRPr lang="en-IN" sz="2800" dirty="0">
              <a:latin typeface="Cambria" panose="02040503050406030204" pitchFamily="18" charset="0"/>
              <a:ea typeface="Cambria" panose="02040503050406030204" pitchFamily="18" charset="0"/>
            </a:endParaRPr>
          </a:p>
          <a:p>
            <a:r>
              <a:rPr lang="en-IN" sz="2800" dirty="0">
                <a:latin typeface="Cambria" panose="02040503050406030204" pitchFamily="18" charset="0"/>
                <a:ea typeface="Cambria" panose="02040503050406030204" pitchFamily="18" charset="0"/>
              </a:rPr>
              <a:t>50 GB free storage for datasets and models</a:t>
            </a:r>
          </a:p>
          <a:p>
            <a:endParaRPr lang="en-IN" sz="2800" dirty="0">
              <a:latin typeface="Cambria" panose="02040503050406030204" pitchFamily="18" charset="0"/>
              <a:ea typeface="Cambria" panose="02040503050406030204" pitchFamily="18" charset="0"/>
            </a:endParaRPr>
          </a:p>
          <a:p>
            <a:r>
              <a:rPr lang="en-IN" sz="2800" dirty="0">
                <a:latin typeface="Cambria" panose="02040503050406030204" pitchFamily="18" charset="0"/>
                <a:ea typeface="Cambria" panose="02040503050406030204" pitchFamily="18" charset="0"/>
              </a:rPr>
              <a:t>Optional: Cloud platforms (Google </a:t>
            </a:r>
            <a:r>
              <a:rPr lang="en-IN" sz="2800" dirty="0" err="1">
                <a:latin typeface="Cambria" panose="02040503050406030204" pitchFamily="18" charset="0"/>
                <a:ea typeface="Cambria" panose="02040503050406030204" pitchFamily="18" charset="0"/>
              </a:rPr>
              <a:t>Colab</a:t>
            </a:r>
            <a:r>
              <a:rPr lang="en-IN" sz="2800" dirty="0">
                <a:latin typeface="Cambria" panose="02040503050406030204" pitchFamily="18" charset="0"/>
                <a:ea typeface="Cambria" panose="02040503050406030204" pitchFamily="18" charset="0"/>
              </a:rPr>
              <a:t>, AWS, Azure) for training heavy AI models</a:t>
            </a:r>
          </a:p>
        </p:txBody>
      </p:sp>
    </p:spTree>
    <p:extLst>
      <p:ext uri="{BB962C8B-B14F-4D97-AF65-F5344CB8AC3E}">
        <p14:creationId xmlns:p14="http://schemas.microsoft.com/office/powerpoint/2010/main" val="200045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2" name="TextBox 1">
            <a:extLst>
              <a:ext uri="{FF2B5EF4-FFF2-40B4-BE49-F238E27FC236}">
                <a16:creationId xmlns:a16="http://schemas.microsoft.com/office/drawing/2014/main" id="{AB35DB4F-D922-954A-5C14-14C330EB4552}"/>
              </a:ext>
            </a:extLst>
          </p:cNvPr>
          <p:cNvSpPr txBox="1"/>
          <p:nvPr/>
        </p:nvSpPr>
        <p:spPr>
          <a:xfrm>
            <a:off x="370115" y="1166842"/>
            <a:ext cx="5584371" cy="4524315"/>
          </a:xfrm>
          <a:prstGeom prst="rect">
            <a:avLst/>
          </a:prstGeom>
          <a:noFill/>
        </p:spPr>
        <p:txBody>
          <a:bodyPr wrap="square" rtlCol="0">
            <a:spAutoFit/>
          </a:bodyPr>
          <a:lstStyle/>
          <a:p>
            <a:r>
              <a:rPr lang="en-IN" sz="2400" b="1" dirty="0">
                <a:latin typeface="Cambria" panose="02040503050406030204" pitchFamily="18" charset="0"/>
                <a:ea typeface="Cambria" panose="02040503050406030204" pitchFamily="18" charset="0"/>
              </a:rPr>
              <a:t>Week 1–2: </a:t>
            </a:r>
            <a:r>
              <a:rPr lang="en-IN" sz="2400" dirty="0">
                <a:latin typeface="Cambria" panose="02040503050406030204" pitchFamily="18" charset="0"/>
                <a:ea typeface="Cambria" panose="02040503050406030204" pitchFamily="18" charset="0"/>
              </a:rPr>
              <a:t>Data collection (</a:t>
            </a:r>
            <a:r>
              <a:rPr lang="en-IN" sz="2400" dirty="0" err="1">
                <a:latin typeface="Cambria" panose="02040503050406030204" pitchFamily="18" charset="0"/>
                <a:ea typeface="Cambria" panose="02040503050406030204" pitchFamily="18" charset="0"/>
              </a:rPr>
              <a:t>Agmarknet</a:t>
            </a:r>
            <a:r>
              <a:rPr lang="en-IN" sz="2400" dirty="0">
                <a:latin typeface="Cambria" panose="02040503050406030204" pitchFamily="18" charset="0"/>
                <a:ea typeface="Cambria" panose="02040503050406030204" pitchFamily="18" charset="0"/>
              </a:rPr>
              <a:t>, FAOSTAT, IMD).</a:t>
            </a:r>
          </a:p>
          <a:p>
            <a:r>
              <a:rPr lang="en-IN" sz="2400" b="1" dirty="0">
                <a:latin typeface="Cambria" panose="02040503050406030204" pitchFamily="18" charset="0"/>
                <a:ea typeface="Cambria" panose="02040503050406030204" pitchFamily="18" charset="0"/>
              </a:rPr>
              <a:t>Week 3–4: </a:t>
            </a:r>
            <a:r>
              <a:rPr lang="en-IN" sz="2400" dirty="0">
                <a:latin typeface="Cambria" panose="02040503050406030204" pitchFamily="18" charset="0"/>
                <a:ea typeface="Cambria" panose="02040503050406030204" pitchFamily="18" charset="0"/>
              </a:rPr>
              <a:t>Data preprocessing &amp; cleaning.</a:t>
            </a:r>
          </a:p>
          <a:p>
            <a:r>
              <a:rPr lang="en-IN" sz="2400" b="1" dirty="0">
                <a:latin typeface="Cambria" panose="02040503050406030204" pitchFamily="18" charset="0"/>
                <a:ea typeface="Cambria" panose="02040503050406030204" pitchFamily="18" charset="0"/>
              </a:rPr>
              <a:t>Week 5–6: </a:t>
            </a:r>
            <a:r>
              <a:rPr lang="en-IN" sz="2400" dirty="0">
                <a:latin typeface="Cambria" panose="02040503050406030204" pitchFamily="18" charset="0"/>
                <a:ea typeface="Cambria" panose="02040503050406030204" pitchFamily="18" charset="0"/>
              </a:rPr>
              <a:t>Baseline forecasting (ARIMA, Prophet).</a:t>
            </a:r>
          </a:p>
          <a:p>
            <a:r>
              <a:rPr lang="en-IN" sz="2400" b="1" dirty="0">
                <a:latin typeface="Cambria" panose="02040503050406030204" pitchFamily="18" charset="0"/>
                <a:ea typeface="Cambria" panose="02040503050406030204" pitchFamily="18" charset="0"/>
              </a:rPr>
              <a:t>Week 7–8: </a:t>
            </a:r>
            <a:r>
              <a:rPr lang="en-IN" sz="2400" dirty="0">
                <a:latin typeface="Cambria" panose="02040503050406030204" pitchFamily="18" charset="0"/>
                <a:ea typeface="Cambria" panose="02040503050406030204" pitchFamily="18" charset="0"/>
              </a:rPr>
              <a:t>Advanced AI models (LSTM/GRU).</a:t>
            </a:r>
          </a:p>
          <a:p>
            <a:r>
              <a:rPr lang="en-IN" sz="2400" b="1" dirty="0">
                <a:latin typeface="Cambria" panose="02040503050406030204" pitchFamily="18" charset="0"/>
                <a:ea typeface="Cambria" panose="02040503050406030204" pitchFamily="18" charset="0"/>
              </a:rPr>
              <a:t>Week 9–10: </a:t>
            </a:r>
            <a:r>
              <a:rPr lang="en-IN" sz="2400" dirty="0">
                <a:latin typeface="Cambria" panose="02040503050406030204" pitchFamily="18" charset="0"/>
                <a:ea typeface="Cambria" panose="02040503050406030204" pitchFamily="18" charset="0"/>
              </a:rPr>
              <a:t>Dashboard integration (Flask + Chart.js).</a:t>
            </a:r>
          </a:p>
          <a:p>
            <a:r>
              <a:rPr lang="en-IN" sz="2400" b="1" dirty="0">
                <a:latin typeface="Cambria" panose="02040503050406030204" pitchFamily="18" charset="0"/>
                <a:ea typeface="Cambria" panose="02040503050406030204" pitchFamily="18" charset="0"/>
              </a:rPr>
              <a:t>Week 11: </a:t>
            </a:r>
            <a:r>
              <a:rPr lang="en-IN" sz="2400" dirty="0">
                <a:latin typeface="Cambria" panose="02040503050406030204" pitchFamily="18" charset="0"/>
                <a:ea typeface="Cambria" panose="02040503050406030204" pitchFamily="18" charset="0"/>
              </a:rPr>
              <a:t>Testing &amp; validation.</a:t>
            </a:r>
          </a:p>
          <a:p>
            <a:r>
              <a:rPr lang="en-IN" sz="2400" b="1" dirty="0">
                <a:latin typeface="Cambria" panose="02040503050406030204" pitchFamily="18" charset="0"/>
                <a:ea typeface="Cambria" panose="02040503050406030204" pitchFamily="18" charset="0"/>
              </a:rPr>
              <a:t>Week 12: </a:t>
            </a:r>
            <a:r>
              <a:rPr lang="en-IN" sz="2400" dirty="0">
                <a:latin typeface="Cambria" panose="02040503050406030204" pitchFamily="18" charset="0"/>
                <a:ea typeface="Cambria" panose="02040503050406030204" pitchFamily="18" charset="0"/>
              </a:rPr>
              <a:t>Documentation &amp; Review.</a:t>
            </a:r>
          </a:p>
        </p:txBody>
      </p:sp>
      <p:pic>
        <p:nvPicPr>
          <p:cNvPr id="4" name="Picture 3">
            <a:extLst>
              <a:ext uri="{FF2B5EF4-FFF2-40B4-BE49-F238E27FC236}">
                <a16:creationId xmlns:a16="http://schemas.microsoft.com/office/drawing/2014/main" id="{36D303EF-5D5B-7184-954D-374CEC2E12BD}"/>
              </a:ext>
            </a:extLst>
          </p:cNvPr>
          <p:cNvPicPr>
            <a:picLocks noChangeAspect="1"/>
          </p:cNvPicPr>
          <p:nvPr/>
        </p:nvPicPr>
        <p:blipFill>
          <a:blip r:embed="rId3"/>
          <a:stretch>
            <a:fillRect/>
          </a:stretch>
        </p:blipFill>
        <p:spPr>
          <a:xfrm>
            <a:off x="5856514" y="1023257"/>
            <a:ext cx="5874657" cy="5192486"/>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224971" y="685801"/>
            <a:ext cx="11154229"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[1]. A. Kumar, B. Patel, and C. Zhang, “Agricultural price forecasting using ARIMA and LSTM,” IEEE Access, vol. 9, pp. 34567–34578, Mar. 2021.</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[2]. J. Smith, “Deep learning in agricultural systems,” IEEE Trans. Neural </a:t>
            </a:r>
            <a:r>
              <a:rPr lang="en-US" dirty="0" err="1">
                <a:latin typeface="Cambria" panose="02040503050406030204" pitchFamily="18" charset="0"/>
                <a:ea typeface="Cambria" panose="02040503050406030204" pitchFamily="18" charset="0"/>
              </a:rPr>
              <a:t>Netw</a:t>
            </a:r>
            <a:r>
              <a:rPr lang="en-US" dirty="0">
                <a:latin typeface="Cambria" panose="02040503050406030204" pitchFamily="18" charset="0"/>
                <a:ea typeface="Cambria" panose="02040503050406030204" pitchFamily="18" charset="0"/>
              </a:rPr>
              <a:t>. Learn. Syst., vol. 32, no. 7, pp. 1234–1245, Jul. 2021.</a:t>
            </a: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[3]. Ministry of Agriculture, “</a:t>
            </a:r>
            <a:r>
              <a:rPr lang="en-US" dirty="0" err="1">
                <a:latin typeface="Cambria" panose="02040503050406030204" pitchFamily="18" charset="0"/>
                <a:ea typeface="Cambria" panose="02040503050406030204" pitchFamily="18" charset="0"/>
              </a:rPr>
              <a:t>Agmarknet</a:t>
            </a:r>
            <a:r>
              <a:rPr lang="en-US" dirty="0">
                <a:latin typeface="Cambria" panose="02040503050406030204" pitchFamily="18" charset="0"/>
                <a:ea typeface="Cambria" panose="02040503050406030204" pitchFamily="18" charset="0"/>
              </a:rPr>
              <a:t> Portal,” Govt. of India. [Online]. Available: </a:t>
            </a:r>
            <a:r>
              <a:rPr lang="en-US" dirty="0">
                <a:latin typeface="Cambria" panose="02040503050406030204" pitchFamily="18" charset="0"/>
                <a:ea typeface="Cambria" panose="02040503050406030204" pitchFamily="18" charset="0"/>
                <a:hlinkClick r:id="rId3"/>
              </a:rPr>
              <a:t>https://agmarknet.gov.in</a:t>
            </a:r>
            <a:endParaRPr lang="en-US" dirty="0">
              <a:latin typeface="Cambria" panose="02040503050406030204" pitchFamily="18" charset="0"/>
              <a:ea typeface="Cambria" panose="02040503050406030204" pitchFamily="18" charset="0"/>
            </a:endParaRP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[4]. FAOSTAT, “Food and Agriculture Data,” Food and Agriculture Organization. [Online]. Available: </a:t>
            </a:r>
            <a:r>
              <a:rPr lang="en-US" dirty="0">
                <a:latin typeface="Cambria" panose="02040503050406030204" pitchFamily="18" charset="0"/>
                <a:ea typeface="Cambria" panose="02040503050406030204" pitchFamily="18" charset="0"/>
                <a:hlinkClick r:id="rId4"/>
              </a:rPr>
              <a:t>http://www.fao.org/faostat/</a:t>
            </a:r>
            <a:endParaRPr lang="en-US" dirty="0">
              <a:latin typeface="Cambria" panose="02040503050406030204" pitchFamily="18" charset="0"/>
              <a:ea typeface="Cambria" panose="02040503050406030204" pitchFamily="18" charset="0"/>
            </a:endParaRPr>
          </a:p>
          <a:p>
            <a:pPr marL="609600" lvl="1" indent="0">
              <a:spcBef>
                <a:spcPts val="0"/>
              </a:spcBef>
              <a:buNone/>
            </a:pPr>
            <a:endParaRPr lang="en-US" dirty="0">
              <a:latin typeface="Cambria" panose="02040503050406030204" pitchFamily="18" charset="0"/>
              <a:ea typeface="Cambria" panose="02040503050406030204" pitchFamily="18" charset="0"/>
            </a:endParaRPr>
          </a:p>
          <a:p>
            <a:pPr marL="609600" lvl="1" indent="0">
              <a:spcBef>
                <a:spcPts val="0"/>
              </a:spcBef>
              <a:buNone/>
            </a:pPr>
            <a:r>
              <a:rPr lang="en-US" dirty="0">
                <a:latin typeface="Cambria" panose="02040503050406030204" pitchFamily="18" charset="0"/>
                <a:ea typeface="Cambria" panose="02040503050406030204" pitchFamily="18" charset="0"/>
              </a:rPr>
              <a:t>[5]. S. Patel et al., “Machine learning applications in agricultural commodity forecasting,” Elsevier Agricultural Systems, vol. 195, pp. 102–115, 2021.</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495</TotalTime>
  <Words>1111</Words>
  <Application>Microsoft Office PowerPoint</Application>
  <PresentationFormat>Widescreen</PresentationFormat>
  <Paragraphs>149</Paragraphs>
  <Slides>15</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Cambria</vt:lpstr>
      <vt:lpstr>Verdana</vt:lpstr>
      <vt:lpstr>Wingdings</vt:lpstr>
      <vt:lpstr>Bioinformatics</vt:lpstr>
      <vt:lpstr>OrganicCrop Forecast: Region-Wise Demand and Price Estimator</vt:lpstr>
      <vt:lpstr>Problem Statement Number: PSCS_150 </vt:lpstr>
      <vt:lpstr>Content</vt:lpstr>
      <vt:lpstr>PowerPoint Presentation</vt:lpstr>
      <vt:lpstr>PowerPoint Presentation</vt:lpstr>
      <vt:lpstr>PowerPoint Presentation</vt:lpstr>
      <vt:lpstr>PowerPoint Presentation</vt:lpstr>
      <vt:lpstr>Analysis of Problem Statement</vt:lpstr>
      <vt:lpstr>PowerPoint Presentation</vt:lpstr>
      <vt:lpstr>Github Link</vt:lpstr>
      <vt:lpstr>Analysis of Problem Statement (contd...)</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Bharathi Neeralakeri</cp:lastModifiedBy>
  <cp:revision>40</cp:revision>
  <dcterms:modified xsi:type="dcterms:W3CDTF">2025-08-19T10:34:22Z</dcterms:modified>
</cp:coreProperties>
</file>